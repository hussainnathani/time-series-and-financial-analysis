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Cormorant Garamond Italics" charset="1" panose="00000500000000000000"/>
      <p:regular r:id="rId26"/>
    </p:embeddedFont>
    <p:embeddedFont>
      <p:font typeface="Glacial Indifference" charset="1" panose="00000000000000000000"/>
      <p:regular r:id="rId27"/>
    </p:embeddedFont>
    <p:embeddedFont>
      <p:font typeface="Cormorant Garamond Bold Italics" charset="1" panose="000008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09790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809790" y="5826116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08093" y="2421804"/>
            <a:ext cx="10368096" cy="283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08"/>
              </a:lnSpc>
            </a:pPr>
            <a:r>
              <a:rPr lang="en-US" sz="10908" i="true">
                <a:solidFill>
                  <a:srgbClr val="2D3880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Time Series Analysis of Gold ETF Prices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08093" y="5288272"/>
            <a:ext cx="1036809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Using Base Models, ARMA, ARIMA, and Box-Jenkins Models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8093" y="6593586"/>
            <a:ext cx="10368096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Submitted by: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Name: Mohammed Hussain Nathani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GWID: G363</a:t>
            </a: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08827</a:t>
            </a:r>
          </a:p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Course: DATS_6313_10</a:t>
            </a:r>
          </a:p>
        </p:txBody>
      </p:sp>
      <p:sp>
        <p:nvSpPr>
          <p:cNvPr name="AutoShape 8" id="8"/>
          <p:cNvSpPr/>
          <p:nvPr/>
        </p:nvSpPr>
        <p:spPr>
          <a:xfrm flipH="true">
            <a:off x="1925123" y="2221779"/>
            <a:ext cx="0" cy="6595577"/>
          </a:xfrm>
          <a:prstGeom prst="line">
            <a:avLst/>
          </a:prstGeom>
          <a:ln cap="flat" w="57150">
            <a:solidFill>
              <a:srgbClr val="2D388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Project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52911" y="3602151"/>
            <a:ext cx="13382178" cy="294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Goal: Forecast Gold ETF Close Prices, aiming to uncover temporal patterns and develop predictive models for future price forecasting</a:t>
            </a:r>
          </a:p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Dataset: 12 financial indicators (gold, silver, oil, GDP, CPI, etc.)</a:t>
            </a:r>
          </a:p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Methods: Base Models, MLR, Holt-Winters, ARMA, ARIMA, Box-Jenkins</a:t>
            </a:r>
          </a:p>
          <a:p>
            <a:pPr algn="l">
              <a:lnSpc>
                <a:spcPts val="471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50899" y="4384311"/>
            <a:ext cx="9586202" cy="4906486"/>
          </a:xfrm>
          <a:custGeom>
            <a:avLst/>
            <a:gdLst/>
            <a:ahLst/>
            <a:cxnLst/>
            <a:rect r="r" b="b" t="t" l="l"/>
            <a:pathLst>
              <a:path h="4906486" w="9586202">
                <a:moveTo>
                  <a:pt x="0" y="0"/>
                </a:moveTo>
                <a:lnTo>
                  <a:pt x="9586202" y="0"/>
                </a:lnTo>
                <a:lnTo>
                  <a:pt x="9586202" y="4906487"/>
                </a:lnTo>
                <a:lnTo>
                  <a:pt x="0" y="49064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364" t="-8163" r="-8526" b="-5851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 Summary + Trends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2911" y="2630055"/>
            <a:ext cx="13382178" cy="117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Line chart of gold close price</a:t>
            </a:r>
          </a:p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Mention: non-stationary pattern, visual trends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865466"/>
            <a:ext cx="8348521" cy="5392834"/>
          </a:xfrm>
          <a:custGeom>
            <a:avLst/>
            <a:gdLst/>
            <a:ahLst/>
            <a:cxnLst/>
            <a:rect r="r" b="b" t="t" l="l"/>
            <a:pathLst>
              <a:path h="5392834" w="8348521">
                <a:moveTo>
                  <a:pt x="0" y="0"/>
                </a:moveTo>
                <a:lnTo>
                  <a:pt x="8348521" y="0"/>
                </a:lnTo>
                <a:lnTo>
                  <a:pt x="8348521" y="5392834"/>
                </a:lnTo>
                <a:lnTo>
                  <a:pt x="0" y="53928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95" t="-3374" r="-2655" b="-4975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922783" y="3865466"/>
            <a:ext cx="7336517" cy="5392834"/>
          </a:xfrm>
          <a:custGeom>
            <a:avLst/>
            <a:gdLst/>
            <a:ahLst/>
            <a:cxnLst/>
            <a:rect r="r" b="b" t="t" l="l"/>
            <a:pathLst>
              <a:path h="5392834" w="7336517">
                <a:moveTo>
                  <a:pt x="0" y="0"/>
                </a:moveTo>
                <a:lnTo>
                  <a:pt x="7336517" y="0"/>
                </a:lnTo>
                <a:lnTo>
                  <a:pt x="7336517" y="5392834"/>
                </a:lnTo>
                <a:lnTo>
                  <a:pt x="0" y="53928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391" t="-7982" r="-16745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ACF/PACF and Correlation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52911" y="2270929"/>
            <a:ext cx="13382178" cy="117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Heatmap: feature relationships</a:t>
            </a:r>
          </a:p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ACF: Decays slowly. PACF: Cut-Off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8037" y="4483804"/>
            <a:ext cx="5326700" cy="4261360"/>
          </a:xfrm>
          <a:custGeom>
            <a:avLst/>
            <a:gdLst/>
            <a:ahLst/>
            <a:cxnLst/>
            <a:rect r="r" b="b" t="t" l="l"/>
            <a:pathLst>
              <a:path h="4261360" w="5326700">
                <a:moveTo>
                  <a:pt x="0" y="0"/>
                </a:moveTo>
                <a:lnTo>
                  <a:pt x="5326700" y="0"/>
                </a:lnTo>
                <a:lnTo>
                  <a:pt x="5326700" y="4261361"/>
                </a:lnTo>
                <a:lnTo>
                  <a:pt x="0" y="42613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945775" y="4483804"/>
            <a:ext cx="5326700" cy="4261360"/>
          </a:xfrm>
          <a:custGeom>
            <a:avLst/>
            <a:gdLst/>
            <a:ahLst/>
            <a:cxnLst/>
            <a:rect r="r" b="b" t="t" l="l"/>
            <a:pathLst>
              <a:path h="4261360" w="5326700">
                <a:moveTo>
                  <a:pt x="0" y="0"/>
                </a:moveTo>
                <a:lnTo>
                  <a:pt x="5326700" y="0"/>
                </a:lnTo>
                <a:lnTo>
                  <a:pt x="5326700" y="4261361"/>
                </a:lnTo>
                <a:lnTo>
                  <a:pt x="0" y="42613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443925" y="4483804"/>
            <a:ext cx="6396038" cy="4261360"/>
          </a:xfrm>
          <a:custGeom>
            <a:avLst/>
            <a:gdLst/>
            <a:ahLst/>
            <a:cxnLst/>
            <a:rect r="r" b="b" t="t" l="l"/>
            <a:pathLst>
              <a:path h="4261360" w="6396038">
                <a:moveTo>
                  <a:pt x="0" y="0"/>
                </a:moveTo>
                <a:lnTo>
                  <a:pt x="6396038" y="0"/>
                </a:lnTo>
                <a:lnTo>
                  <a:pt x="6396038" y="4261361"/>
                </a:lnTo>
                <a:lnTo>
                  <a:pt x="0" y="42613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Stationarity Checks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52911" y="2477084"/>
            <a:ext cx="13382178" cy="117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Gold Close data was non-station</a:t>
            </a: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ary. 1st order differencing performed.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8812" y="5485665"/>
            <a:ext cx="7229661" cy="4473562"/>
          </a:xfrm>
          <a:custGeom>
            <a:avLst/>
            <a:gdLst/>
            <a:ahLst/>
            <a:cxnLst/>
            <a:rect r="r" b="b" t="t" l="l"/>
            <a:pathLst>
              <a:path h="4473562" w="7229661">
                <a:moveTo>
                  <a:pt x="0" y="0"/>
                </a:moveTo>
                <a:lnTo>
                  <a:pt x="7229661" y="0"/>
                </a:lnTo>
                <a:lnTo>
                  <a:pt x="7229661" y="4473562"/>
                </a:lnTo>
                <a:lnTo>
                  <a:pt x="0" y="44735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34741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808833" y="5485665"/>
            <a:ext cx="7199387" cy="4473562"/>
          </a:xfrm>
          <a:custGeom>
            <a:avLst/>
            <a:gdLst/>
            <a:ahLst/>
            <a:cxnLst/>
            <a:rect r="r" b="b" t="t" l="l"/>
            <a:pathLst>
              <a:path h="4473562" w="7199387">
                <a:moveTo>
                  <a:pt x="0" y="0"/>
                </a:moveTo>
                <a:lnTo>
                  <a:pt x="7199387" y="0"/>
                </a:lnTo>
                <a:lnTo>
                  <a:pt x="7199387" y="4473562"/>
                </a:lnTo>
                <a:lnTo>
                  <a:pt x="0" y="44735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34176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Decomposition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36298" y="2568212"/>
            <a:ext cx="9785077" cy="84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1513" indent="-265756" lvl="1">
              <a:lnSpc>
                <a:spcPts val="3446"/>
              </a:lnSpc>
              <a:buFont typeface="Arial"/>
              <a:buChar char="•"/>
            </a:pPr>
            <a:r>
              <a:rPr lang="en-US" sz="246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Additive vs Multiplicative STL plots</a:t>
            </a:r>
          </a:p>
          <a:p>
            <a:pPr algn="l" marL="531513" indent="-265756" lvl="1">
              <a:lnSpc>
                <a:spcPts val="3446"/>
              </a:lnSpc>
              <a:buFont typeface="Arial"/>
              <a:buChar char="•"/>
            </a:pPr>
            <a:r>
              <a:rPr lang="en-US" sz="246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Strong trend, weak seasonality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51182" y="3862972"/>
            <a:ext cx="4914689" cy="1280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1513" indent="-265756" lvl="1">
              <a:lnSpc>
                <a:spcPts val="3446"/>
              </a:lnSpc>
              <a:buFont typeface="Arial"/>
              <a:buChar char="•"/>
            </a:pPr>
            <a:r>
              <a:rPr lang="en-US" sz="246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Multiplicative Decomposition: </a:t>
            </a:r>
          </a:p>
          <a:p>
            <a:pPr algn="l">
              <a:lnSpc>
                <a:spcPts val="3446"/>
              </a:lnSpc>
            </a:pPr>
            <a:r>
              <a:rPr lang="en-US" sz="246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</a:t>
            </a:r>
            <a:r>
              <a:rPr lang="en-US" sz="246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Strength of Trend: 1.0000</a:t>
            </a:r>
          </a:p>
          <a:p>
            <a:pPr algn="l">
              <a:lnSpc>
                <a:spcPts val="3446"/>
              </a:lnSpc>
            </a:pPr>
            <a:r>
              <a:rPr lang="en-US" sz="246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Strength of Seasonality: 0.1202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36298" y="3862972"/>
            <a:ext cx="4914689" cy="1280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1513" indent="-265756" lvl="1">
              <a:lnSpc>
                <a:spcPts val="3446"/>
              </a:lnSpc>
              <a:buFont typeface="Arial"/>
              <a:buChar char="•"/>
            </a:pPr>
            <a:r>
              <a:rPr lang="en-US" sz="246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Additive Decomposition:</a:t>
            </a:r>
          </a:p>
          <a:p>
            <a:pPr algn="l">
              <a:lnSpc>
                <a:spcPts val="3446"/>
              </a:lnSpc>
            </a:pPr>
            <a:r>
              <a:rPr lang="en-US" sz="246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</a:t>
            </a:r>
            <a:r>
              <a:rPr lang="en-US" sz="246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Strength of Trend: 0.9406</a:t>
            </a:r>
          </a:p>
          <a:p>
            <a:pPr algn="l">
              <a:lnSpc>
                <a:spcPts val="3446"/>
              </a:lnSpc>
            </a:pPr>
            <a:r>
              <a:rPr lang="en-US" sz="246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Strength of Seasonality: 0.0580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8298" y="4855309"/>
            <a:ext cx="9631404" cy="5135242"/>
          </a:xfrm>
          <a:custGeom>
            <a:avLst/>
            <a:gdLst/>
            <a:ahLst/>
            <a:cxnLst/>
            <a:rect r="r" b="b" t="t" l="l"/>
            <a:pathLst>
              <a:path h="5135242" w="9631404">
                <a:moveTo>
                  <a:pt x="0" y="0"/>
                </a:moveTo>
                <a:lnTo>
                  <a:pt x="9631404" y="0"/>
                </a:lnTo>
                <a:lnTo>
                  <a:pt x="9631404" y="5135242"/>
                </a:lnTo>
                <a:lnTo>
                  <a:pt x="0" y="51352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133" t="-8029" r="-9203" b="-2007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Base Forecasting Models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2911" y="2234704"/>
            <a:ext cx="13382178" cy="235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Average M</a:t>
            </a: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odel     : RMSE = 54.5309, MAE = 49.7513</a:t>
            </a:r>
          </a:p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Naïve Model       : RMSE = 26.7726, MAE = 18.3628</a:t>
            </a:r>
          </a:p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Drift Model      </a:t>
            </a: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: RMSE = 20.5011, MAE = 13.6719</a:t>
            </a:r>
          </a:p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SES Model         : RMSE = 27.3327, MAE = 18.8494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71650" y="4627120"/>
            <a:ext cx="10344700" cy="5172350"/>
          </a:xfrm>
          <a:custGeom>
            <a:avLst/>
            <a:gdLst/>
            <a:ahLst/>
            <a:cxnLst/>
            <a:rect r="r" b="b" t="t" l="l"/>
            <a:pathLst>
              <a:path h="5172350" w="10344700">
                <a:moveTo>
                  <a:pt x="0" y="0"/>
                </a:moveTo>
                <a:lnTo>
                  <a:pt x="10344700" y="0"/>
                </a:lnTo>
                <a:lnTo>
                  <a:pt x="10344700" y="5172350"/>
                </a:lnTo>
                <a:lnTo>
                  <a:pt x="0" y="51723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Holt-Winters Forecasting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2911" y="2270929"/>
            <a:ext cx="13382178" cy="176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Mean Absolute Error (MAE): 14.2446</a:t>
            </a:r>
          </a:p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Mean Squared Error (MSE): 455.7504</a:t>
            </a:r>
          </a:p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R</a:t>
            </a: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oot Mean</a:t>
            </a: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Squared Error (RMSE): 21.3483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68318" y="4189021"/>
            <a:ext cx="10351363" cy="5175682"/>
          </a:xfrm>
          <a:custGeom>
            <a:avLst/>
            <a:gdLst/>
            <a:ahLst/>
            <a:cxnLst/>
            <a:rect r="r" b="b" t="t" l="l"/>
            <a:pathLst>
              <a:path h="5175682" w="10351363">
                <a:moveTo>
                  <a:pt x="0" y="0"/>
                </a:moveTo>
                <a:lnTo>
                  <a:pt x="10351364" y="0"/>
                </a:lnTo>
                <a:lnTo>
                  <a:pt x="10351364" y="5175682"/>
                </a:lnTo>
                <a:lnTo>
                  <a:pt x="0" y="5175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Multiple Linear Regression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2911" y="2497699"/>
            <a:ext cx="13382178" cy="117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Backward elimination</a:t>
            </a:r>
          </a:p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Good performance, but residuals are</a:t>
            </a: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aut</a:t>
            </a: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ocorrelat</a:t>
            </a: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52170" y="3450695"/>
            <a:ext cx="7383661" cy="6123416"/>
          </a:xfrm>
          <a:custGeom>
            <a:avLst/>
            <a:gdLst/>
            <a:ahLst/>
            <a:cxnLst/>
            <a:rect r="r" b="b" t="t" l="l"/>
            <a:pathLst>
              <a:path h="6123416" w="7383661">
                <a:moveTo>
                  <a:pt x="0" y="0"/>
                </a:moveTo>
                <a:lnTo>
                  <a:pt x="7383660" y="0"/>
                </a:lnTo>
                <a:lnTo>
                  <a:pt x="7383660" y="6123415"/>
                </a:lnTo>
                <a:lnTo>
                  <a:pt x="0" y="612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675" t="-7103" r="-16080" b="-3007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GPAC Table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2911" y="2497699"/>
            <a:ext cx="13382178" cy="581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GPAC Table does not show any particular order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40628" y="5325345"/>
            <a:ext cx="6206743" cy="4388426"/>
          </a:xfrm>
          <a:custGeom>
            <a:avLst/>
            <a:gdLst/>
            <a:ahLst/>
            <a:cxnLst/>
            <a:rect r="r" b="b" t="t" l="l"/>
            <a:pathLst>
              <a:path h="4388426" w="6206743">
                <a:moveTo>
                  <a:pt x="0" y="0"/>
                </a:moveTo>
                <a:lnTo>
                  <a:pt x="6206744" y="0"/>
                </a:lnTo>
                <a:lnTo>
                  <a:pt x="6206744" y="4388426"/>
                </a:lnTo>
                <a:lnTo>
                  <a:pt x="0" y="43884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0695" r="0" b="-5405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ARMA Modeling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2911" y="2415237"/>
            <a:ext cx="13382178" cy="235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Best ARMA(2,2)</a:t>
            </a:r>
          </a:p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Estimated Parameters: AR[1] = 0.5170, AR[2] = 0.9587,                MA[1] = 0.5155, MA[2] = 0.9599</a:t>
            </a:r>
          </a:p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Residual Q-Test: Q = 36736.3448 → Residuals show autocorrelation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25788" y="5142493"/>
            <a:ext cx="3436424" cy="4590352"/>
          </a:xfrm>
          <a:custGeom>
            <a:avLst/>
            <a:gdLst/>
            <a:ahLst/>
            <a:cxnLst/>
            <a:rect r="r" b="b" t="t" l="l"/>
            <a:pathLst>
              <a:path h="4590352" w="3436424">
                <a:moveTo>
                  <a:pt x="0" y="0"/>
                </a:moveTo>
                <a:lnTo>
                  <a:pt x="3436424" y="0"/>
                </a:lnTo>
                <a:lnTo>
                  <a:pt x="3436424" y="4590351"/>
                </a:lnTo>
                <a:lnTo>
                  <a:pt x="0" y="45903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ARIMA Modeling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2911" y="2415237"/>
            <a:ext cx="13382178" cy="235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Best ARIMA(2,1,2)</a:t>
            </a:r>
          </a:p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Estimated Parameters: [AR]1 = -0.0786, [AR]2 = 0.8756                MA[1] = 0.0769, MA[2] = -0.8880</a:t>
            </a:r>
          </a:p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Residual Q-Test: Q = 19.3887 &lt; Q_critical = 62.83 → White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92514" y="3832000"/>
            <a:ext cx="8702972" cy="5642339"/>
          </a:xfrm>
          <a:custGeom>
            <a:avLst/>
            <a:gdLst/>
            <a:ahLst/>
            <a:cxnLst/>
            <a:rect r="r" b="b" t="t" l="l"/>
            <a:pathLst>
              <a:path h="5642339" w="8702972">
                <a:moveTo>
                  <a:pt x="0" y="0"/>
                </a:moveTo>
                <a:lnTo>
                  <a:pt x="8702972" y="0"/>
                </a:lnTo>
                <a:lnTo>
                  <a:pt x="8702972" y="5642339"/>
                </a:lnTo>
                <a:lnTo>
                  <a:pt x="0" y="56423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21" t="0" r="-7816" b="-1096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Box-Jenkins Modeling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2911" y="2648006"/>
            <a:ext cx="13382178" cy="581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Input Feature Selection: silver close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94280" y="4941627"/>
            <a:ext cx="5862459" cy="4917739"/>
          </a:xfrm>
          <a:custGeom>
            <a:avLst/>
            <a:gdLst/>
            <a:ahLst/>
            <a:cxnLst/>
            <a:rect r="r" b="b" t="t" l="l"/>
            <a:pathLst>
              <a:path h="4917739" w="5862459">
                <a:moveTo>
                  <a:pt x="0" y="0"/>
                </a:moveTo>
                <a:lnTo>
                  <a:pt x="5862460" y="0"/>
                </a:lnTo>
                <a:lnTo>
                  <a:pt x="5862460" y="4917739"/>
                </a:lnTo>
                <a:lnTo>
                  <a:pt x="0" y="4917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856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71936" y="4941627"/>
            <a:ext cx="5995137" cy="4917739"/>
          </a:xfrm>
          <a:custGeom>
            <a:avLst/>
            <a:gdLst/>
            <a:ahLst/>
            <a:cxnLst/>
            <a:rect r="r" b="b" t="t" l="l"/>
            <a:pathLst>
              <a:path h="4917739" w="5995137">
                <a:moveTo>
                  <a:pt x="0" y="0"/>
                </a:moveTo>
                <a:lnTo>
                  <a:pt x="5995137" y="0"/>
                </a:lnTo>
                <a:lnTo>
                  <a:pt x="5995137" y="4917739"/>
                </a:lnTo>
                <a:lnTo>
                  <a:pt x="0" y="4917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535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238642" y="3503368"/>
            <a:ext cx="5810716" cy="995788"/>
          </a:xfrm>
          <a:custGeom>
            <a:avLst/>
            <a:gdLst/>
            <a:ahLst/>
            <a:cxnLst/>
            <a:rect r="r" b="b" t="t" l="l"/>
            <a:pathLst>
              <a:path h="995788" w="5810716">
                <a:moveTo>
                  <a:pt x="0" y="0"/>
                </a:moveTo>
                <a:lnTo>
                  <a:pt x="5810716" y="0"/>
                </a:lnTo>
                <a:lnTo>
                  <a:pt x="5810716" y="995788"/>
                </a:lnTo>
                <a:lnTo>
                  <a:pt x="0" y="9957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Box-Jenkins Modeling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52911" y="2648006"/>
            <a:ext cx="13382178" cy="581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Impulse Response, G-GPAC, H-GPAC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22025" y="4090774"/>
            <a:ext cx="6243950" cy="5829866"/>
          </a:xfrm>
          <a:custGeom>
            <a:avLst/>
            <a:gdLst/>
            <a:ahLst/>
            <a:cxnLst/>
            <a:rect r="r" b="b" t="t" l="l"/>
            <a:pathLst>
              <a:path h="5829866" w="6243950">
                <a:moveTo>
                  <a:pt x="0" y="0"/>
                </a:moveTo>
                <a:lnTo>
                  <a:pt x="6243950" y="0"/>
                </a:lnTo>
                <a:lnTo>
                  <a:pt x="6243950" y="5829866"/>
                </a:lnTo>
                <a:lnTo>
                  <a:pt x="0" y="58298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Box-Jenkins Modeling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2911" y="2648006"/>
            <a:ext cx="13382178" cy="117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Selected Order: (2,2,2,2) → Filtered Parameters Order: (2,1,2,1)</a:t>
            </a:r>
          </a:p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Residual diagnostics passed Q and S tests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62504" y="5414549"/>
            <a:ext cx="13562991" cy="1559744"/>
          </a:xfrm>
          <a:custGeom>
            <a:avLst/>
            <a:gdLst/>
            <a:ahLst/>
            <a:cxnLst/>
            <a:rect r="r" b="b" t="t" l="l"/>
            <a:pathLst>
              <a:path h="1559744" w="13562991">
                <a:moveTo>
                  <a:pt x="0" y="0"/>
                </a:moveTo>
                <a:lnTo>
                  <a:pt x="13562992" y="0"/>
                </a:lnTo>
                <a:lnTo>
                  <a:pt x="13562992" y="1559744"/>
                </a:lnTo>
                <a:lnTo>
                  <a:pt x="0" y="15597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Final Forecast Comparison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2911" y="3374495"/>
            <a:ext cx="13382178" cy="581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903" indent="-363451" lvl="1">
              <a:lnSpc>
                <a:spcPts val="4713"/>
              </a:lnSpc>
              <a:buFont typeface="Arial"/>
              <a:buChar char="•"/>
            </a:pPr>
            <a:r>
              <a:rPr lang="en-US" sz="336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Best: Box-Jenkins (lowest error)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04326" y="2590786"/>
            <a:ext cx="8279348" cy="7176164"/>
          </a:xfrm>
          <a:custGeom>
            <a:avLst/>
            <a:gdLst/>
            <a:ahLst/>
            <a:cxnLst/>
            <a:rect r="r" b="b" t="t" l="l"/>
            <a:pathLst>
              <a:path h="7176164" w="8279348">
                <a:moveTo>
                  <a:pt x="0" y="0"/>
                </a:moveTo>
                <a:lnTo>
                  <a:pt x="8279348" y="0"/>
                </a:lnTo>
                <a:lnTo>
                  <a:pt x="8279348" y="7176163"/>
                </a:lnTo>
                <a:lnTo>
                  <a:pt x="0" y="7176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Final Forecast Comparison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24884" y="4628900"/>
            <a:ext cx="10638231" cy="5319116"/>
          </a:xfrm>
          <a:custGeom>
            <a:avLst/>
            <a:gdLst/>
            <a:ahLst/>
            <a:cxnLst/>
            <a:rect r="r" b="b" t="t" l="l"/>
            <a:pathLst>
              <a:path h="5319116" w="10638231">
                <a:moveTo>
                  <a:pt x="0" y="0"/>
                </a:moveTo>
                <a:lnTo>
                  <a:pt x="10638232" y="0"/>
                </a:lnTo>
                <a:lnTo>
                  <a:pt x="10638232" y="5319115"/>
                </a:lnTo>
                <a:lnTo>
                  <a:pt x="0" y="53191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Final Forecast Plot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86379" y="2232153"/>
            <a:ext cx="12753348" cy="2229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2745" indent="-346373" lvl="1">
              <a:lnSpc>
                <a:spcPts val="4492"/>
              </a:lnSpc>
              <a:buFont typeface="Arial"/>
              <a:buChar char="•"/>
            </a:pPr>
            <a:r>
              <a:rPr lang="en-US" sz="3208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Forecast vs Actual for Box-Jenkins</a:t>
            </a:r>
          </a:p>
          <a:p>
            <a:pPr algn="l" marL="692745" indent="-346373" lvl="1">
              <a:lnSpc>
                <a:spcPts val="4492"/>
              </a:lnSpc>
              <a:buFont typeface="Arial"/>
              <a:buChar char="•"/>
            </a:pPr>
            <a:r>
              <a:rPr lang="en-US" sz="3208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Forecasts closely follow actual gold price trends</a:t>
            </a:r>
          </a:p>
          <a:p>
            <a:pPr algn="l" marL="692745" indent="-346373" lvl="1">
              <a:lnSpc>
                <a:spcPts val="4492"/>
              </a:lnSpc>
              <a:buFont typeface="Arial"/>
              <a:buChar char="•"/>
            </a:pPr>
            <a:r>
              <a:rPr lang="en-US" sz="3208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Short-term fluctuations not always captured</a:t>
            </a:r>
          </a:p>
          <a:p>
            <a:pPr algn="l" marL="692745" indent="-346373" lvl="1">
              <a:lnSpc>
                <a:spcPts val="4492"/>
              </a:lnSpc>
              <a:buFont typeface="Arial"/>
              <a:buChar char="•"/>
            </a:pPr>
            <a:r>
              <a:rPr lang="en-US" sz="3208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major divergence from test values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57492" y="6776862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4" y="4490244"/>
                </a:lnTo>
                <a:lnTo>
                  <a:pt x="5703544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6259" y="-353256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1"/>
                </a:lnTo>
                <a:lnTo>
                  <a:pt x="0" y="380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67326" y="3306135"/>
            <a:ext cx="12753348" cy="2229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2745" indent="-346373" lvl="1">
              <a:lnSpc>
                <a:spcPts val="4492"/>
              </a:lnSpc>
              <a:buFont typeface="Arial"/>
              <a:buChar char="•"/>
            </a:pPr>
            <a:r>
              <a:rPr lang="en-US" sz="3208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Complete modeling pipeline: EDA → Modeling → Forecasting</a:t>
            </a:r>
          </a:p>
          <a:p>
            <a:pPr algn="l" marL="692745" indent="-346373" lvl="1">
              <a:lnSpc>
                <a:spcPts val="4492"/>
              </a:lnSpc>
              <a:buFont typeface="Arial"/>
              <a:buChar char="•"/>
            </a:pPr>
            <a:r>
              <a:rPr lang="en-US" sz="3208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Box-Jenkins (2,1,2,1) wi</a:t>
            </a:r>
            <a:r>
              <a:rPr lang="en-US" sz="3208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 silver input delivered best performance</a:t>
            </a:r>
          </a:p>
          <a:p>
            <a:pPr algn="l" marL="692745" indent="-346373" lvl="1">
              <a:lnSpc>
                <a:spcPts val="4492"/>
              </a:lnSpc>
              <a:buFont typeface="Arial"/>
              <a:buChar char="•"/>
            </a:pPr>
            <a:r>
              <a:rPr lang="en-US" sz="3208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Passed Q</a:t>
            </a:r>
            <a:r>
              <a:rPr lang="en-US" sz="3208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-test &amp; S-test → residuals are white and independent</a:t>
            </a:r>
          </a:p>
          <a:p>
            <a:pPr algn="l" marL="692745" indent="-346373" lvl="1">
              <a:lnSpc>
                <a:spcPts val="4492"/>
              </a:lnSpc>
              <a:buFont typeface="Arial"/>
              <a:buChar char="•"/>
            </a:pPr>
            <a:r>
              <a:rPr lang="en-US" sz="3208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Accurate multi-step forecasts using custom-built function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6459" y="6431427"/>
            <a:ext cx="14995082" cy="120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  <a:spcBef>
                <a:spcPct val="0"/>
              </a:spcBef>
            </a:pPr>
            <a:r>
              <a:rPr lang="en-US" b="true" sz="3429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“Gold prices can be reliably forecast using diagnostic-driven time series models — with improved accuracy when leveraging exogenous financial indicators like silver prices.”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36288"/>
            <a:ext cx="13066628" cy="10287000"/>
          </a:xfrm>
          <a:custGeom>
            <a:avLst/>
            <a:gdLst/>
            <a:ahLst/>
            <a:cxnLst/>
            <a:rect r="r" b="b" t="t" l="l"/>
            <a:pathLst>
              <a:path h="10287000" w="13066628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09386" y="3991073"/>
            <a:ext cx="6314484" cy="206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10"/>
              </a:lnSpc>
            </a:pPr>
            <a:r>
              <a:rPr lang="en-US" b="true" sz="12007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9949" y="8464987"/>
            <a:ext cx="16028102" cy="79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2"/>
              </a:lnSpc>
              <a:spcBef>
                <a:spcPct val="0"/>
              </a:spcBef>
            </a:pPr>
            <a:r>
              <a:rPr lang="en-US" b="true" sz="4659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✨ "From trends to forecasts — mastering gold with models that shine."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DAGl5OiA5yY</dc:identifier>
  <dcterms:modified xsi:type="dcterms:W3CDTF">2011-08-01T06:04:30Z</dcterms:modified>
  <cp:revision>1</cp:revision>
  <dc:title>Time Series Analysis of Gold ETF Prices</dc:title>
</cp:coreProperties>
</file>